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0552"/>
  </p:normalViewPr>
  <p:slideViewPr>
    <p:cSldViewPr snapToGrid="0" snapToObjects="1">
      <p:cViewPr varScale="1">
        <p:scale>
          <a:sx n="107" d="100"/>
          <a:sy n="107" d="100"/>
        </p:scale>
        <p:origin x="6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Bar"/>
          <p:cNvSpPr/>
          <p:nvPr/>
        </p:nvSpPr>
        <p:spPr>
          <a:xfrm>
            <a:off x="0" y="60960"/>
            <a:ext cx="60960" cy="60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MainTitle"/>
          <p:cNvSpPr txBox="1"/>
          <p:nvPr/>
        </p:nvSpPr>
        <p:spPr>
          <a:xfrm>
            <a:off x="1048932" y="321920"/>
            <a:ext cx="9853811" cy="2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n-IE" sz="5400" b="1" dirty="0">
                <a:solidFill>
                  <a:srgbClr val="FFFFFF"/>
                </a:solidFill>
              </a:rPr>
              <a:t>Dublin Housing Affordability</a:t>
            </a:r>
          </a:p>
          <a:p>
            <a:pPr algn="l"/>
            <a:r>
              <a:rPr lang="en-IE" sz="5400" b="1" dirty="0">
                <a:solidFill>
                  <a:srgbClr val="FFFFFF"/>
                </a:solidFill>
              </a:rPr>
              <a:t>Analysis (2015-2025)</a:t>
            </a:r>
          </a:p>
        </p:txBody>
      </p:sp>
      <p:sp>
        <p:nvSpPr>
          <p:cNvPr id="9" name="InfoCard"/>
          <p:cNvSpPr/>
          <p:nvPr/>
        </p:nvSpPr>
        <p:spPr>
          <a:xfrm>
            <a:off x="1111994" y="2660960"/>
            <a:ext cx="5919426" cy="2249472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0" name="InfoText"/>
          <p:cNvSpPr txBox="1"/>
          <p:nvPr/>
        </p:nvSpPr>
        <p:spPr>
          <a:xfrm>
            <a:off x="1039958" y="2582880"/>
            <a:ext cx="6340533" cy="24296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Bef>
                <a:spcPts val="100"/>
              </a:spcBef>
            </a:pPr>
            <a:r>
              <a:rPr lang="en-IE" b="1" dirty="0">
                <a:solidFill>
                  <a:srgbClr val="00A896"/>
                </a:solidFill>
              </a:rPr>
              <a:t>Team Members</a:t>
            </a:r>
          </a:p>
          <a:p>
            <a:pPr>
              <a:spcBef>
                <a:spcPts val="50"/>
              </a:spcBef>
            </a:pPr>
            <a:r>
              <a:rPr lang="en-IE" dirty="0">
                <a:solidFill>
                  <a:srgbClr val="FFFFFF"/>
                </a:solidFill>
              </a:rPr>
              <a:t>Chandini Konduru (25143913)  |  Singireddy Sneha (24285854)|  Kapa Adheeshwar Reddy (25122932)</a:t>
            </a:r>
          </a:p>
          <a:p>
            <a:pPr>
              <a:spcBef>
                <a:spcPts val="200"/>
              </a:spcBef>
            </a:pPr>
            <a:r>
              <a:rPr lang="en-IE" b="1" dirty="0">
                <a:solidFill>
                  <a:srgbClr val="00A896"/>
                </a:solidFill>
              </a:rPr>
              <a:t>Research Question</a:t>
            </a:r>
          </a:p>
          <a:p>
            <a:pPr>
              <a:spcBef>
                <a:spcPts val="50"/>
              </a:spcBef>
            </a:pPr>
            <a:r>
              <a:rPr lang="en-IE" dirty="0">
                <a:solidFill>
                  <a:srgbClr val="FFFFFF"/>
                </a:solidFill>
              </a:rPr>
              <a:t>Is housing in Dublin becoming unaffordable relative to income over time, and how does it vary by area?</a:t>
            </a:r>
          </a:p>
          <a:p>
            <a:pPr>
              <a:spcBef>
                <a:spcPts val="200"/>
              </a:spcBef>
            </a:pPr>
            <a:r>
              <a:rPr lang="en-IE" b="1" dirty="0">
                <a:solidFill>
                  <a:srgbClr val="00A896"/>
                </a:solidFill>
              </a:rPr>
              <a:t>Approach</a:t>
            </a:r>
          </a:p>
          <a:p>
            <a:pPr>
              <a:spcBef>
                <a:spcPts val="50"/>
              </a:spcBef>
            </a:pPr>
            <a:r>
              <a:rPr lang="en-IE" dirty="0">
                <a:solidFill>
                  <a:srgbClr val="FFFFFF"/>
                </a:solidFill>
              </a:rPr>
              <a:t>End-to-end ETL + dual databases + dashboard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Motivation and Project Objectives</a:t>
            </a:r>
          </a:p>
        </p:txBody>
      </p:sp>
      <p:sp>
        <p:nvSpPr>
          <p:cNvPr id="5" name="Card0"/>
          <p:cNvSpPr/>
          <p:nvPr/>
        </p:nvSpPr>
        <p:spPr>
          <a:xfrm>
            <a:off x="274638" y="900000"/>
            <a:ext cx="2731574" cy="4808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Hdr0"/>
          <p:cNvSpPr/>
          <p:nvPr/>
        </p:nvSpPr>
        <p:spPr>
          <a:xfrm>
            <a:off x="274638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374638" y="90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Critical Issue</a:t>
            </a:r>
          </a:p>
        </p:txBody>
      </p:sp>
      <p:sp>
        <p:nvSpPr>
          <p:cNvPr id="8" name="CardTxt0"/>
          <p:cNvSpPr txBox="1"/>
          <p:nvPr/>
        </p:nvSpPr>
        <p:spPr>
          <a:xfrm>
            <a:off x="424638" y="1150000"/>
            <a:ext cx="2531574" cy="339046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Housing affordability is a critical social and policy issue in Dublin.</a:t>
            </a:r>
          </a:p>
        </p:txBody>
      </p:sp>
      <p:sp>
        <p:nvSpPr>
          <p:cNvPr id="9" name="Card1"/>
          <p:cNvSpPr/>
          <p:nvPr/>
        </p:nvSpPr>
        <p:spPr>
          <a:xfrm>
            <a:off x="3256212" y="1090000"/>
            <a:ext cx="2731574" cy="4618000"/>
          </a:xfrm>
          <a:prstGeom prst="roundRect">
            <a:avLst/>
          </a:prstGeom>
          <a:solidFill>
            <a:srgbClr val="16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Hdr1"/>
          <p:cNvSpPr/>
          <p:nvPr/>
        </p:nvSpPr>
        <p:spPr>
          <a:xfrm>
            <a:off x="3206212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Title1"/>
          <p:cNvSpPr txBox="1"/>
          <p:nvPr/>
        </p:nvSpPr>
        <p:spPr>
          <a:xfrm>
            <a:off x="3356212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The Problem</a:t>
            </a:r>
          </a:p>
        </p:txBody>
      </p:sp>
      <p:sp>
        <p:nvSpPr>
          <p:cNvPr id="12" name="CardTxt1"/>
          <p:cNvSpPr txBox="1"/>
          <p:nvPr/>
        </p:nvSpPr>
        <p:spPr>
          <a:xfrm>
            <a:off x="3356212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Price-only trends can mislead; affordability must relate price to income.</a:t>
            </a:r>
          </a:p>
        </p:txBody>
      </p:sp>
      <p:sp>
        <p:nvSpPr>
          <p:cNvPr id="13" name="Card2"/>
          <p:cNvSpPr/>
          <p:nvPr/>
        </p:nvSpPr>
        <p:spPr>
          <a:xfrm>
            <a:off x="6137786" y="900000"/>
            <a:ext cx="2731574" cy="4808000"/>
          </a:xfrm>
          <a:prstGeom prst="roundRect">
            <a:avLst/>
          </a:prstGeom>
          <a:solidFill>
            <a:srgbClr val="1A4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Hdr2"/>
          <p:cNvSpPr/>
          <p:nvPr/>
        </p:nvSpPr>
        <p:spPr>
          <a:xfrm>
            <a:off x="6137786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Title2"/>
          <p:cNvSpPr txBox="1"/>
          <p:nvPr/>
        </p:nvSpPr>
        <p:spPr>
          <a:xfrm>
            <a:off x="6287786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Our Objectives</a:t>
            </a:r>
          </a:p>
        </p:txBody>
      </p:sp>
      <p:sp>
        <p:nvSpPr>
          <p:cNvPr id="16" name="CardTxt2"/>
          <p:cNvSpPr txBox="1"/>
          <p:nvPr/>
        </p:nvSpPr>
        <p:spPr>
          <a:xfrm>
            <a:off x="6287786" y="1150000"/>
            <a:ext cx="2531574" cy="3650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Build reproducible ETL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Use MongoDB + PostgreSQL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Derive affordability metrics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Communicate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Datasets and Data Volume</a:t>
            </a:r>
          </a:p>
        </p:txBody>
      </p:sp>
      <p:sp>
        <p:nvSpPr>
          <p:cNvPr id="5" name="LeftCard"/>
          <p:cNvSpPr/>
          <p:nvPr/>
        </p:nvSpPr>
        <p:spPr>
          <a:xfrm>
            <a:off x="274638" y="900000"/>
            <a:ext cx="4200000" cy="535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eftHdr"/>
          <p:cNvSpPr/>
          <p:nvPr/>
        </p:nvSpPr>
        <p:spPr>
          <a:xfrm>
            <a:off x="274638" y="900000"/>
            <a:ext cx="4200000" cy="2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LeftHdrTxt"/>
          <p:cNvSpPr txBox="1"/>
          <p:nvPr/>
        </p:nvSpPr>
        <p:spPr>
          <a:xfrm>
            <a:off x="400000" y="910000"/>
            <a:ext cx="3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8" name="SrcTxt"/>
          <p:cNvSpPr txBox="1"/>
          <p:nvPr/>
        </p:nvSpPr>
        <p:spPr>
          <a:xfrm>
            <a:off x="400000" y="1150000"/>
            <a:ext cx="3900000" cy="5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just"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Property Price Register</a:t>
            </a:r>
          </a:p>
          <a:p>
            <a:pPr algn="just">
              <a:spcBef>
                <a:spcPts val="50"/>
              </a:spcBef>
            </a:pPr>
            <a:r>
              <a:rPr lang="en-IE" sz="1600" dirty="0">
                <a:solidFill>
                  <a:srgbClr val="FFFFFF"/>
                </a:solidFill>
              </a:rPr>
              <a:t>CSV, structured</a:t>
            </a:r>
          </a:p>
          <a:p>
            <a:pPr algn="just"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CSO Income API</a:t>
            </a:r>
          </a:p>
          <a:p>
            <a:pPr algn="just">
              <a:spcBef>
                <a:spcPts val="50"/>
              </a:spcBef>
            </a:pPr>
            <a:r>
              <a:rPr lang="en-IE" sz="1600" dirty="0">
                <a:solidFill>
                  <a:srgbClr val="FFFFFF"/>
                </a:solidFill>
              </a:rPr>
              <a:t>JSON-stat, semi-structured</a:t>
            </a:r>
          </a:p>
          <a:p>
            <a:pPr algn="just"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CSO Population API</a:t>
            </a:r>
          </a:p>
          <a:p>
            <a:pPr algn="just">
              <a:spcBef>
                <a:spcPts val="50"/>
              </a:spcBef>
            </a:pPr>
            <a:r>
              <a:rPr lang="en-IE" sz="1600" dirty="0">
                <a:solidFill>
                  <a:srgbClr val="FFFFFF"/>
                </a:solidFill>
              </a:rPr>
              <a:t>JSON-stat, semi-structured</a:t>
            </a:r>
          </a:p>
          <a:p>
            <a:pPr algn="just"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All sources</a:t>
            </a:r>
          </a:p>
          <a:p>
            <a:pPr algn="just">
              <a:spcBef>
                <a:spcPts val="50"/>
              </a:spcBef>
            </a:pPr>
            <a:r>
              <a:rPr lang="en-IE" sz="1600" dirty="0">
                <a:solidFill>
                  <a:srgbClr val="FFFFFF"/>
                </a:solidFill>
              </a:rPr>
              <a:t>Public and non-Kaggle</a:t>
            </a:r>
          </a:p>
        </p:txBody>
      </p:sp>
      <p:sp>
        <p:nvSpPr>
          <p:cNvPr id="9" name="RightCard"/>
          <p:cNvSpPr/>
          <p:nvPr/>
        </p:nvSpPr>
        <p:spPr>
          <a:xfrm>
            <a:off x="4674638" y="900000"/>
            <a:ext cx="4200000" cy="535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ightHdr"/>
          <p:cNvSpPr/>
          <p:nvPr/>
        </p:nvSpPr>
        <p:spPr>
          <a:xfrm>
            <a:off x="4674638" y="900000"/>
            <a:ext cx="4200000" cy="2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HdrTxt"/>
          <p:cNvSpPr txBox="1"/>
          <p:nvPr/>
        </p:nvSpPr>
        <p:spPr>
          <a:xfrm>
            <a:off x="4800000" y="900000"/>
            <a:ext cx="3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FFFFFF"/>
                </a:solidFill>
              </a:rPr>
              <a:t>Data Volume</a:t>
            </a:r>
          </a:p>
        </p:txBody>
      </p:sp>
      <p:sp>
        <p:nvSpPr>
          <p:cNvPr id="12" name="Stat12"/>
          <p:cNvSpPr txBox="1"/>
          <p:nvPr/>
        </p:nvSpPr>
        <p:spPr>
          <a:xfrm>
            <a:off x="4800000" y="1150000"/>
            <a:ext cx="39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IE" sz="2800" b="1" dirty="0">
                <a:solidFill>
                  <a:srgbClr val="00A896"/>
                </a:solidFill>
              </a:rPr>
              <a:t>198,057</a:t>
            </a:r>
          </a:p>
          <a:p>
            <a:pPr>
              <a:spcBef>
                <a:spcPts val="0"/>
              </a:spcBef>
            </a:pPr>
            <a:r>
              <a:rPr lang="en-IE" sz="1200" dirty="0">
                <a:solidFill>
                  <a:srgbClr val="A8D8E0"/>
                </a:solidFill>
              </a:rPr>
              <a:t>Property rows</a:t>
            </a:r>
          </a:p>
        </p:txBody>
      </p:sp>
      <p:sp>
        <p:nvSpPr>
          <p:cNvPr id="13" name="Stat13"/>
          <p:cNvSpPr txBox="1"/>
          <p:nvPr/>
        </p:nvSpPr>
        <p:spPr>
          <a:xfrm>
            <a:off x="4800000" y="2350000"/>
            <a:ext cx="39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IE" sz="2800" b="1" dirty="0">
                <a:solidFill>
                  <a:srgbClr val="00A896"/>
                </a:solidFill>
              </a:rPr>
              <a:t>1,056</a:t>
            </a:r>
          </a:p>
          <a:p>
            <a:pPr>
              <a:spcBef>
                <a:spcPts val="0"/>
              </a:spcBef>
            </a:pPr>
            <a:r>
              <a:rPr lang="en-IE" sz="1200" dirty="0">
                <a:solidFill>
                  <a:srgbClr val="A8D8E0"/>
                </a:solidFill>
              </a:rPr>
              <a:t>Income parsed </a:t>
            </a:r>
            <a:r>
              <a:rPr lang="en-IE" sz="1600" dirty="0">
                <a:solidFill>
                  <a:srgbClr val="A8D8E0"/>
                </a:solidFill>
              </a:rPr>
              <a:t>rows</a:t>
            </a:r>
          </a:p>
        </p:txBody>
      </p:sp>
      <p:sp>
        <p:nvSpPr>
          <p:cNvPr id="14" name="Stat14"/>
          <p:cNvSpPr txBox="1"/>
          <p:nvPr/>
        </p:nvSpPr>
        <p:spPr>
          <a:xfrm>
            <a:off x="4800000" y="3550000"/>
            <a:ext cx="39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13,020</a:t>
            </a:r>
          </a:p>
          <a:p>
            <a:pPr>
              <a:spcBef>
                <a:spcPts val="0"/>
              </a:spcBef>
            </a:pPr>
            <a:r>
              <a:rPr lang="en-IE" sz="1200" dirty="0">
                <a:solidFill>
                  <a:srgbClr val="A8D8E0"/>
                </a:solidFill>
              </a:rPr>
              <a:t>Population parsed rows</a:t>
            </a:r>
          </a:p>
        </p:txBody>
      </p:sp>
      <p:sp>
        <p:nvSpPr>
          <p:cNvPr id="15" name="Stat15"/>
          <p:cNvSpPr txBox="1"/>
          <p:nvPr/>
        </p:nvSpPr>
        <p:spPr>
          <a:xfrm>
            <a:off x="4800000" y="4750000"/>
            <a:ext cx="39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>
              <a:spcBef>
                <a:spcPts val="300"/>
              </a:spcBef>
            </a:pPr>
            <a:r>
              <a:rPr lang="en-IE" sz="1600" b="1" dirty="0">
                <a:solidFill>
                  <a:srgbClr val="00A896"/>
                </a:solidFill>
              </a:rPr>
              <a:t>&gt;1,000</a:t>
            </a:r>
          </a:p>
          <a:p>
            <a:pPr>
              <a:spcBef>
                <a:spcPts val="0"/>
              </a:spcBef>
            </a:pPr>
            <a:r>
              <a:rPr lang="en-IE" sz="1600" dirty="0">
                <a:solidFill>
                  <a:srgbClr val="A8D8E0"/>
                </a:solidFill>
              </a:rPr>
              <a:t>Records per source (requirement met)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System Architecture and ETL Flow</a:t>
            </a:r>
          </a:p>
        </p:txBody>
      </p:sp>
      <p:sp>
        <p:nvSpPr>
          <p:cNvPr id="5" name="Card0"/>
          <p:cNvSpPr/>
          <p:nvPr/>
        </p:nvSpPr>
        <p:spPr>
          <a:xfrm>
            <a:off x="274638" y="900000"/>
            <a:ext cx="2731574" cy="530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Hdr0"/>
          <p:cNvSpPr/>
          <p:nvPr/>
        </p:nvSpPr>
        <p:spPr>
          <a:xfrm>
            <a:off x="274638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424638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Pipeline Flow</a:t>
            </a:r>
          </a:p>
        </p:txBody>
      </p:sp>
      <p:sp>
        <p:nvSpPr>
          <p:cNvPr id="8" name="CardTxt0"/>
          <p:cNvSpPr txBox="1"/>
          <p:nvPr/>
        </p:nvSpPr>
        <p:spPr>
          <a:xfrm>
            <a:off x="424638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Extract → MongoDB raw zone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Transform → PostgreSQL curated zone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Dashboard + static figures</a:t>
            </a:r>
          </a:p>
        </p:txBody>
      </p:sp>
      <p:sp>
        <p:nvSpPr>
          <p:cNvPr id="9" name="Card1"/>
          <p:cNvSpPr/>
          <p:nvPr/>
        </p:nvSpPr>
        <p:spPr>
          <a:xfrm>
            <a:off x="3206212" y="900000"/>
            <a:ext cx="2731574" cy="5300000"/>
          </a:xfrm>
          <a:prstGeom prst="roundRect">
            <a:avLst/>
          </a:prstGeom>
          <a:solidFill>
            <a:srgbClr val="16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Hdr1"/>
          <p:cNvSpPr/>
          <p:nvPr/>
        </p:nvSpPr>
        <p:spPr>
          <a:xfrm>
            <a:off x="3206212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Title1"/>
          <p:cNvSpPr txBox="1"/>
          <p:nvPr/>
        </p:nvSpPr>
        <p:spPr>
          <a:xfrm>
            <a:off x="3356212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Core Modules</a:t>
            </a:r>
          </a:p>
        </p:txBody>
      </p:sp>
      <p:sp>
        <p:nvSpPr>
          <p:cNvPr id="12" name="CardTxt1"/>
          <p:cNvSpPr txBox="1"/>
          <p:nvPr/>
        </p:nvSpPr>
        <p:spPr>
          <a:xfrm>
            <a:off x="3356212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extract.py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transform.py, load.py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main.py, analyze.py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dashboard/app.py</a:t>
            </a:r>
          </a:p>
        </p:txBody>
      </p:sp>
      <p:sp>
        <p:nvSpPr>
          <p:cNvPr id="13" name="Card2"/>
          <p:cNvSpPr/>
          <p:nvPr/>
        </p:nvSpPr>
        <p:spPr>
          <a:xfrm>
            <a:off x="6137786" y="900000"/>
            <a:ext cx="2731574" cy="5300000"/>
          </a:xfrm>
          <a:prstGeom prst="roundRect">
            <a:avLst/>
          </a:prstGeom>
          <a:solidFill>
            <a:srgbClr val="1A4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Hdr2"/>
          <p:cNvSpPr/>
          <p:nvPr/>
        </p:nvSpPr>
        <p:spPr>
          <a:xfrm>
            <a:off x="6137786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Title2"/>
          <p:cNvSpPr txBox="1"/>
          <p:nvPr/>
        </p:nvSpPr>
        <p:spPr>
          <a:xfrm>
            <a:off x="6287786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Design Focus</a:t>
            </a:r>
          </a:p>
        </p:txBody>
      </p:sp>
      <p:sp>
        <p:nvSpPr>
          <p:cNvPr id="16" name="CardTxt2"/>
          <p:cNvSpPr txBox="1"/>
          <p:nvPr/>
        </p:nvSpPr>
        <p:spPr>
          <a:xfrm>
            <a:off x="6287786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Reproducibility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Traceability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Robust data quality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Raw Storage and Engineering Challenges</a:t>
            </a:r>
          </a:p>
        </p:txBody>
      </p:sp>
      <p:sp>
        <p:nvSpPr>
          <p:cNvPr id="5" name="Card0"/>
          <p:cNvSpPr/>
          <p:nvPr/>
        </p:nvSpPr>
        <p:spPr>
          <a:xfrm>
            <a:off x="274638" y="900000"/>
            <a:ext cx="2731574" cy="530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Hdr0"/>
          <p:cNvSpPr/>
          <p:nvPr/>
        </p:nvSpPr>
        <p:spPr>
          <a:xfrm>
            <a:off x="274638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424638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MongoDB Storage</a:t>
            </a:r>
          </a:p>
        </p:txBody>
      </p:sp>
      <p:sp>
        <p:nvSpPr>
          <p:cNvPr id="8" name="CardTxt0"/>
          <p:cNvSpPr txBox="1"/>
          <p:nvPr/>
        </p:nvSpPr>
        <p:spPr>
          <a:xfrm>
            <a:off x="424638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Stores both raw payloads and parsed rows for lineage.</a:t>
            </a:r>
          </a:p>
        </p:txBody>
      </p:sp>
      <p:sp>
        <p:nvSpPr>
          <p:cNvPr id="9" name="Card1"/>
          <p:cNvSpPr/>
          <p:nvPr/>
        </p:nvSpPr>
        <p:spPr>
          <a:xfrm>
            <a:off x="3206212" y="900000"/>
            <a:ext cx="2731574" cy="5300000"/>
          </a:xfrm>
          <a:prstGeom prst="roundRect">
            <a:avLst/>
          </a:prstGeom>
          <a:solidFill>
            <a:srgbClr val="16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Hdr1"/>
          <p:cNvSpPr/>
          <p:nvPr/>
        </p:nvSpPr>
        <p:spPr>
          <a:xfrm>
            <a:off x="3206212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Title1"/>
          <p:cNvSpPr txBox="1"/>
          <p:nvPr/>
        </p:nvSpPr>
        <p:spPr>
          <a:xfrm>
            <a:off x="3356212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Challenges Solved</a:t>
            </a:r>
          </a:p>
        </p:txBody>
      </p:sp>
      <p:sp>
        <p:nvSpPr>
          <p:cNvPr id="12" name="CardTxt1"/>
          <p:cNvSpPr txBox="1"/>
          <p:nvPr/>
        </p:nvSpPr>
        <p:spPr>
          <a:xfrm>
            <a:off x="3258851" y="116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PowerShell script parsing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Schema variability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Missing area labels</a:t>
            </a:r>
          </a:p>
        </p:txBody>
      </p:sp>
      <p:sp>
        <p:nvSpPr>
          <p:cNvPr id="13" name="Card2"/>
          <p:cNvSpPr/>
          <p:nvPr/>
        </p:nvSpPr>
        <p:spPr>
          <a:xfrm>
            <a:off x="6137786" y="900000"/>
            <a:ext cx="2731574" cy="5300000"/>
          </a:xfrm>
          <a:prstGeom prst="roundRect">
            <a:avLst/>
          </a:prstGeom>
          <a:solidFill>
            <a:srgbClr val="1A4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Hdr2"/>
          <p:cNvSpPr/>
          <p:nvPr/>
        </p:nvSpPr>
        <p:spPr>
          <a:xfrm>
            <a:off x="6137786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Title2"/>
          <p:cNvSpPr txBox="1"/>
          <p:nvPr/>
        </p:nvSpPr>
        <p:spPr>
          <a:xfrm>
            <a:off x="6287786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Outcome</a:t>
            </a:r>
          </a:p>
        </p:txBody>
      </p:sp>
      <p:sp>
        <p:nvSpPr>
          <p:cNvPr id="16" name="CardTxt2"/>
          <p:cNvSpPr txBox="1"/>
          <p:nvPr/>
        </p:nvSpPr>
        <p:spPr>
          <a:xfrm>
            <a:off x="6237786" y="116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Stable pipeline behavior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Explainable transformations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Transformation and Feature Engineering</a:t>
            </a:r>
          </a:p>
        </p:txBody>
      </p:sp>
      <p:sp>
        <p:nvSpPr>
          <p:cNvPr id="5" name="Card0"/>
          <p:cNvSpPr/>
          <p:nvPr/>
        </p:nvSpPr>
        <p:spPr>
          <a:xfrm>
            <a:off x="274638" y="900000"/>
            <a:ext cx="2731574" cy="530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Hdr0"/>
          <p:cNvSpPr/>
          <p:nvPr/>
        </p:nvSpPr>
        <p:spPr>
          <a:xfrm>
            <a:off x="274638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424638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Data Cleaning</a:t>
            </a:r>
          </a:p>
        </p:txBody>
      </p:sp>
      <p:sp>
        <p:nvSpPr>
          <p:cNvPr id="8" name="CardTxt0"/>
          <p:cNvSpPr txBox="1"/>
          <p:nvPr/>
        </p:nvSpPr>
        <p:spPr>
          <a:xfrm>
            <a:off x="424638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Date/price normalization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Dublin filter, 2015-2025 window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Invalid value removal</a:t>
            </a:r>
          </a:p>
        </p:txBody>
      </p:sp>
      <p:sp>
        <p:nvSpPr>
          <p:cNvPr id="9" name="Card1"/>
          <p:cNvSpPr/>
          <p:nvPr/>
        </p:nvSpPr>
        <p:spPr>
          <a:xfrm>
            <a:off x="3206212" y="900000"/>
            <a:ext cx="2731574" cy="5300000"/>
          </a:xfrm>
          <a:prstGeom prst="roundRect">
            <a:avLst/>
          </a:prstGeom>
          <a:solidFill>
            <a:srgbClr val="16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Hdr1"/>
          <p:cNvSpPr/>
          <p:nvPr/>
        </p:nvSpPr>
        <p:spPr>
          <a:xfrm>
            <a:off x="3206212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Title1"/>
          <p:cNvSpPr txBox="1"/>
          <p:nvPr/>
        </p:nvSpPr>
        <p:spPr>
          <a:xfrm>
            <a:off x="3356212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Metrics Derived</a:t>
            </a:r>
          </a:p>
        </p:txBody>
      </p:sp>
      <p:sp>
        <p:nvSpPr>
          <p:cNvPr id="12" name="CardTxt1"/>
          <p:cNvSpPr txBox="1"/>
          <p:nvPr/>
        </p:nvSpPr>
        <p:spPr>
          <a:xfrm>
            <a:off x="3356212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Avg/median price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Sales count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Affordability index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dirty="0">
                <a:solidFill>
                  <a:srgbClr val="FFFFFF"/>
                </a:solidFill>
              </a:rPr>
              <a:t>Year-over-year growth rates</a:t>
            </a:r>
          </a:p>
        </p:txBody>
      </p:sp>
      <p:sp>
        <p:nvSpPr>
          <p:cNvPr id="13" name="Card2"/>
          <p:cNvSpPr/>
          <p:nvPr/>
        </p:nvSpPr>
        <p:spPr>
          <a:xfrm>
            <a:off x="6137786" y="900000"/>
            <a:ext cx="2731574" cy="5300000"/>
          </a:xfrm>
          <a:prstGeom prst="roundRect">
            <a:avLst/>
          </a:prstGeom>
          <a:solidFill>
            <a:srgbClr val="1A4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Hdr2"/>
          <p:cNvSpPr/>
          <p:nvPr/>
        </p:nvSpPr>
        <p:spPr>
          <a:xfrm>
            <a:off x="6137786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Title2"/>
          <p:cNvSpPr txBox="1"/>
          <p:nvPr/>
        </p:nvSpPr>
        <p:spPr>
          <a:xfrm>
            <a:off x="6287786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Area Logic</a:t>
            </a:r>
          </a:p>
        </p:txBody>
      </p:sp>
      <p:sp>
        <p:nvSpPr>
          <p:cNvPr id="16" name="CardTxt2"/>
          <p:cNvSpPr txBox="1"/>
          <p:nvPr/>
        </p:nvSpPr>
        <p:spPr>
          <a:xfrm>
            <a:off x="6237786" y="116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Improved using address fallback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Where Eircode is missing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Trend Results: Price, Income, and Affordability</a:t>
            </a:r>
          </a:p>
        </p:txBody>
      </p:sp>
      <p:pic>
        <p:nvPicPr>
          <p:cNvPr id="4" name="Picture 3" descr="trend_price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19"/>
            <a:ext cx="5669280" cy="3425321"/>
          </a:xfrm>
          <a:prstGeom prst="rect">
            <a:avLst/>
          </a:prstGeom>
        </p:spPr>
      </p:pic>
      <p:pic>
        <p:nvPicPr>
          <p:cNvPr id="5" name="Picture 4" descr="trend_affordability_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19"/>
            <a:ext cx="5303520" cy="3425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Spatial Results: Area Ranking and Heatmap</a:t>
            </a:r>
          </a:p>
        </p:txBody>
      </p:sp>
      <p:pic>
        <p:nvPicPr>
          <p:cNvPr id="4" name="Picture 3" descr="area_comparison_latest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19"/>
            <a:ext cx="5669280" cy="4419599"/>
          </a:xfrm>
          <a:prstGeom prst="rect">
            <a:avLst/>
          </a:prstGeom>
        </p:spPr>
      </p:pic>
      <p:pic>
        <p:nvPicPr>
          <p:cNvPr id="5" name="Picture 4" descr="area_yea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30352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Evaluation, Limitations, and Learning Outcomes</a:t>
            </a:r>
          </a:p>
        </p:txBody>
      </p:sp>
      <p:sp>
        <p:nvSpPr>
          <p:cNvPr id="5" name="Card0"/>
          <p:cNvSpPr/>
          <p:nvPr/>
        </p:nvSpPr>
        <p:spPr>
          <a:xfrm>
            <a:off x="274638" y="900000"/>
            <a:ext cx="2731574" cy="5300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ardHdr0"/>
          <p:cNvSpPr/>
          <p:nvPr/>
        </p:nvSpPr>
        <p:spPr>
          <a:xfrm>
            <a:off x="274638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Title0"/>
          <p:cNvSpPr txBox="1"/>
          <p:nvPr/>
        </p:nvSpPr>
        <p:spPr>
          <a:xfrm>
            <a:off x="424638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Objectives Achieved</a:t>
            </a:r>
          </a:p>
        </p:txBody>
      </p:sp>
      <p:sp>
        <p:nvSpPr>
          <p:cNvPr id="8" name="CardTxt0"/>
          <p:cNvSpPr txBox="1"/>
          <p:nvPr/>
        </p:nvSpPr>
        <p:spPr>
          <a:xfrm>
            <a:off x="424638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Full ETL pipeline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Dual DB architecture (MongoDB + PostgreSQL)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Dashboard delivery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Actionable insights</a:t>
            </a:r>
          </a:p>
        </p:txBody>
      </p:sp>
      <p:sp>
        <p:nvSpPr>
          <p:cNvPr id="9" name="Card1"/>
          <p:cNvSpPr/>
          <p:nvPr/>
        </p:nvSpPr>
        <p:spPr>
          <a:xfrm>
            <a:off x="3206212" y="900000"/>
            <a:ext cx="2731574" cy="5300000"/>
          </a:xfrm>
          <a:prstGeom prst="roundRect">
            <a:avLst/>
          </a:prstGeom>
          <a:solidFill>
            <a:srgbClr val="163A5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ardHdr1"/>
          <p:cNvSpPr/>
          <p:nvPr/>
        </p:nvSpPr>
        <p:spPr>
          <a:xfrm>
            <a:off x="3206212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ardTitle1"/>
          <p:cNvSpPr txBox="1"/>
          <p:nvPr/>
        </p:nvSpPr>
        <p:spPr>
          <a:xfrm>
            <a:off x="3356212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Limitations</a:t>
            </a:r>
          </a:p>
        </p:txBody>
      </p:sp>
      <p:sp>
        <p:nvSpPr>
          <p:cNvPr id="12" name="CardTxt1"/>
          <p:cNvSpPr txBox="1"/>
          <p:nvPr/>
        </p:nvSpPr>
        <p:spPr>
          <a:xfrm>
            <a:off x="3356212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Income overlap coverage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Coarse area proxies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No inflation or mortgage adjustments</a:t>
            </a:r>
          </a:p>
        </p:txBody>
      </p:sp>
      <p:sp>
        <p:nvSpPr>
          <p:cNvPr id="13" name="Card2"/>
          <p:cNvSpPr/>
          <p:nvPr/>
        </p:nvSpPr>
        <p:spPr>
          <a:xfrm>
            <a:off x="6137786" y="900000"/>
            <a:ext cx="2731574" cy="5300000"/>
          </a:xfrm>
          <a:prstGeom prst="roundRect">
            <a:avLst/>
          </a:prstGeom>
          <a:solidFill>
            <a:srgbClr val="1A4A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Hdr2"/>
          <p:cNvSpPr/>
          <p:nvPr/>
        </p:nvSpPr>
        <p:spPr>
          <a:xfrm>
            <a:off x="6137786" y="900000"/>
            <a:ext cx="2731574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CardTitle2"/>
          <p:cNvSpPr txBox="1"/>
          <p:nvPr/>
        </p:nvSpPr>
        <p:spPr>
          <a:xfrm>
            <a:off x="6287786" y="910000"/>
            <a:ext cx="2531574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Learning Outcomes</a:t>
            </a:r>
          </a:p>
        </p:txBody>
      </p:sp>
      <p:sp>
        <p:nvSpPr>
          <p:cNvPr id="16" name="CardTxt2"/>
          <p:cNvSpPr txBox="1"/>
          <p:nvPr/>
        </p:nvSpPr>
        <p:spPr>
          <a:xfrm>
            <a:off x="6287786" y="1150000"/>
            <a:ext cx="2531574" cy="4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LO1 to LO5 covered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Through implementation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And critical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HeaderBg"/>
          <p:cNvSpPr/>
          <p:nvPr/>
        </p:nvSpPr>
        <p:spPr>
          <a:xfrm>
            <a:off x="0" y="60960"/>
            <a:ext cx="9144000" cy="730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274638" y="80000"/>
            <a:ext cx="85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n-IE" sz="2600" b="1" dirty="0">
                <a:solidFill>
                  <a:srgbClr val="FFFFFF"/>
                </a:solidFill>
              </a:rPr>
              <a:t>Conclusion and Future Work</a:t>
            </a:r>
          </a:p>
        </p:txBody>
      </p:sp>
      <p:sp>
        <p:nvSpPr>
          <p:cNvPr id="5" name="ConcCard"/>
          <p:cNvSpPr/>
          <p:nvPr/>
        </p:nvSpPr>
        <p:spPr>
          <a:xfrm>
            <a:off x="274638" y="900000"/>
            <a:ext cx="4150000" cy="4808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oncHdr"/>
          <p:cNvSpPr/>
          <p:nvPr/>
        </p:nvSpPr>
        <p:spPr>
          <a:xfrm>
            <a:off x="274638" y="900000"/>
            <a:ext cx="4150000" cy="20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oncHdrTxt"/>
          <p:cNvSpPr txBox="1"/>
          <p:nvPr/>
        </p:nvSpPr>
        <p:spPr>
          <a:xfrm>
            <a:off x="400000" y="910000"/>
            <a:ext cx="3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8" name="ConcTxt"/>
          <p:cNvSpPr txBox="1"/>
          <p:nvPr/>
        </p:nvSpPr>
        <p:spPr>
          <a:xfrm>
            <a:off x="450000" y="1150000"/>
            <a:ext cx="3900000" cy="4350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Dublin housing became less affordable over available overlap years, with clear area-level inequality.</a:t>
            </a:r>
          </a:p>
        </p:txBody>
      </p:sp>
      <p:sp>
        <p:nvSpPr>
          <p:cNvPr id="9" name="FutCard"/>
          <p:cNvSpPr/>
          <p:nvPr/>
        </p:nvSpPr>
        <p:spPr>
          <a:xfrm>
            <a:off x="4770000" y="900000"/>
            <a:ext cx="4150000" cy="4808000"/>
          </a:xfrm>
          <a:prstGeom prst="roundRect">
            <a:avLst/>
          </a:prstGeom>
          <a:solidFill>
            <a:srgbClr val="1122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FutHdr"/>
          <p:cNvSpPr/>
          <p:nvPr/>
        </p:nvSpPr>
        <p:spPr>
          <a:xfrm>
            <a:off x="4770000" y="900000"/>
            <a:ext cx="4150000" cy="20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FutHdrTxt"/>
          <p:cNvSpPr txBox="1"/>
          <p:nvPr/>
        </p:nvSpPr>
        <p:spPr>
          <a:xfrm>
            <a:off x="4874638" y="910000"/>
            <a:ext cx="3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IE" b="1" dirty="0">
                <a:solidFill>
                  <a:srgbClr val="0D1B2A"/>
                </a:solidFill>
              </a:rPr>
              <a:t>Future Work</a:t>
            </a:r>
          </a:p>
        </p:txBody>
      </p:sp>
      <p:sp>
        <p:nvSpPr>
          <p:cNvPr id="12" name="FutTxt"/>
          <p:cNvSpPr txBox="1"/>
          <p:nvPr/>
        </p:nvSpPr>
        <p:spPr>
          <a:xfrm>
            <a:off x="4900000" y="1150000"/>
            <a:ext cx="3900000" cy="466394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Inflation-adjusted index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Geospatial enrichment</a:t>
            </a:r>
          </a:p>
          <a:p>
            <a:pPr marL="342900" indent="-342900">
              <a:lnSpc>
                <a:spcPct val="150000"/>
              </a:lnSpc>
              <a:spcBef>
                <a:spcPts val="200"/>
              </a:spcBef>
              <a:buClr>
                <a:srgbClr val="00A896"/>
              </a:buClr>
              <a:buChar char="●"/>
            </a:pPr>
            <a:r>
              <a:rPr lang="en-IE" sz="1600" dirty="0">
                <a:solidFill>
                  <a:srgbClr val="FFFFFF"/>
                </a:solidFill>
              </a:rPr>
              <a:t>Predictive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>
            <a:extLst>
              <a:ext uri="{FF2B5EF4-FFF2-40B4-BE49-F238E27FC236}">
                <a16:creationId xmlns:a16="http://schemas.microsoft.com/office/drawing/2014/main" id="{4B1CEE6D-4996-0865-2805-74682884091F}"/>
              </a:ext>
            </a:extLst>
          </p:cNvPr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hankYou">
            <a:extLst>
              <a:ext uri="{FF2B5EF4-FFF2-40B4-BE49-F238E27FC236}">
                <a16:creationId xmlns:a16="http://schemas.microsoft.com/office/drawing/2014/main" id="{334F2BD0-222F-844B-7E32-8FE62DD8581B}"/>
              </a:ext>
            </a:extLst>
          </p:cNvPr>
          <p:cNvSpPr txBox="1"/>
          <p:nvPr/>
        </p:nvSpPr>
        <p:spPr>
          <a:xfrm>
            <a:off x="1168667" y="2170854"/>
            <a:ext cx="8500000" cy="18952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n-IE" sz="3600" b="1" i="1" dirty="0">
                <a:solidFill>
                  <a:srgbClr val="00A896"/>
                </a:solidFill>
              </a:rPr>
              <a:t>Thank you —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1519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378</Words>
  <Application>Microsoft Macintosh PowerPoint</Application>
  <PresentationFormat>Custom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Chandini Konduru</cp:lastModifiedBy>
  <cp:revision>3</cp:revision>
  <cp:lastPrinted>2026-05-01T23:18:06Z</cp:lastPrinted>
  <dcterms:created xsi:type="dcterms:W3CDTF">2013-01-27T09:14:16Z</dcterms:created>
  <dcterms:modified xsi:type="dcterms:W3CDTF">2026-05-02T01:14:01Z</dcterms:modified>
  <cp:category/>
</cp:coreProperties>
</file>